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1c7f65a9-724e-08e2-ff06-8e6c4718fd91}">
          <p14:sldIdLst>
            <p14:sldId id="256"/>
            <p14:sldId id="257"/>
          </p14:sldIdLst>
        </p14:section>
        <p14:section name="Default-1" id="{51db331c-06df-681d-6ca1-bb2feaac8220}">
          <p14:sldIdLst>
            <p14:sldId id="258"/>
          </p14:sldIdLst>
        </p14:section>
        <p14:section name="Why" id="{d617a3a5-83d5-9ed0-f333-f40cbbeb894e}">
          <p14:sldIdLst>
            <p14:sldId id="259"/>
          </p14:sldIdLst>
        </p14:section>
        <p14:section name="What" id="{f023a2c2-f207-c955-9998-a0bd273c8d69}">
          <p14:sldIdLst>
            <p14:sldId id="260"/>
            <p14:sldId id="263"/>
            <p14:sldId id="264"/>
            <p14:sldId id="265"/>
            <p14:sldId id="266"/>
          </p14:sldIdLst>
        </p14:section>
        <p14:section name="原理原則" id="{b2aded98-fc3e-77b0-7cb0-ce094d1ec929}">
          <p14:sldIdLst>
            <p14:sldId id="261"/>
            <p14:sldId id="262"/>
            <p14:sldId id="269"/>
          </p14:sldIdLst>
        </p14:section>
        <p14:section name="How" id="{54b7b907-afea-1740-1b6a-1ebf3be9f41c}">
          <p14:sldIdLst>
            <p14:sldId id="267"/>
            <p14:sldId id="268"/>
            <p14:sldId id="270"/>
            <p14:sldId id="271"/>
            <p14:sldId id="272"/>
            <p14:sldId id="273"/>
            <p14:sldId id="274"/>
          </p14:sldIdLst>
        </p14:section>
        <p14:section name="クライアント対応" id="{9e7438e9-29b2-145c-abcd-b3dd9de5825c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まとめ" id="{f30617ba-3f0c-23ab-724a-f34d3c629d39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導入。本講座は『ツールの操作』ではなく『なぜそう作るのか』を軸にします。最後にクライアントへ説明できる状態をゴールにします。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最初に『できるようになること』を宣言して不安を下げる。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『モデルを呼ぶだけ』では業務で使えない。周辺の設計が9割、という話。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公式：Dify is for building agentic apps. Studioでドラッグ&amp;ドロップ、公開はAPI/Web/MCP。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すべてのアプリはこの形に分解できる。分解できれば作れる、と伝える。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公式：WorkflowとChatflowが推奨。Chatbot/Agent/Text Generatorは同じエンジン上のシンプルなレガシーUI。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公式の比較表に基づく。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公式ページで明記されたのは開始/ユーザー入力/LLM/if-else/変数アサイナー等。他は公式Nodesセクションで最新を確認するよう案内。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公式：入力・出力は実行中に更新不可。環境変数はDSL共有時にも秘密を守る。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所要30分。入力→LLM→出力の最小構成。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プロンプトは品質の最大要因。テンプレ化して再利用させる。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公式：retrieval→augmentation→generation。ナレッジはLLMのプロンプトに追加される。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公式：処理ルール(分割)・インデックス方法・埋め込みモデル・検索戦略はナレッジ設定でいつでも変更可。メタデータでフィルタ検索。検索テストで確認。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所要45分。ナレッジ→LLM→回答。『資料にないことは答えない』制約を必ず入れる。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公式：公開したアプリはAPI/Web/MCPでアクセス可能。YAML(DSL)でエクスポート/インポート。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公式Docker Compose手順：要件2コア/4GiB RAM、Docker Compose 2.24.0以上。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ここが新人の価値が出る場面。作る前に聞く。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最重要。『100%正しい』と約束しない。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型：結論→理由→次の一歩。専門用語は言い換える。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本資料は2026年10月時点の公式docs記載内容に基づく。最新仕様は必ず公式で確認すること。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Dify初級講座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Dify 初級講座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新人エンジニアのための原理原則 → クライアント対応まで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/ What / How で学ぶ ｜ 公式ドキュメント（日本語・English）準拠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7A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2026年10月版（Dify 公式docs記載内容に基づく）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本日のゴール：3つできるようになる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05200" cy="3474720"/>
          </a:xfrm>
          <a:prstGeom prst="roundRect">
            <a:avLst>
              <a:gd name="adj" fmla="val 3158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原理を説明できる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04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LLMアプリが「入力→処理→出力」で動くことと、Difyの部品の役割を自分の言葉で話せる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8160" y="1554480"/>
            <a:ext cx="3505200" cy="3474720"/>
          </a:xfrm>
          <a:prstGeom prst="roundRect">
            <a:avLst>
              <a:gd name="adj" fmla="val 3158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6760" y="178308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2316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小さく作れる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2926080"/>
            <a:ext cx="304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Workflow と Chatflow、ナレッジ（RAG）で、動くアプリを1つ作って公開できる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7680" y="1554480"/>
            <a:ext cx="3505200" cy="3474720"/>
          </a:xfrm>
          <a:prstGeom prst="roundRect">
            <a:avLst>
              <a:gd name="adj" fmla="val 3158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36280" y="178308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2316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クライアントに対応できる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2926080"/>
            <a:ext cx="304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ヒアリング→構成提案→期待値調整→運用説明まで、一人で筋道を立てられる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所要目安：全体 約3時間（講義1.5h＋ハンズオン1.5h）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全体の流れ（Why / What / How）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54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なぜDifyか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554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課題と価値 / 他の選択肢との違い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2606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697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Difyとは何か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97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アプリタイプ・ノード・変数・ナレッジ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40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How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どう作るか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840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ハンズオン2本 / 公開 / 環境構築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07492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983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983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どう説明するか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ヒアリング・期待値調整・運用・失敗例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Why：LLMアプリ開発で新人がつまずく3つの壁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505200" cy="3017520"/>
          </a:xfrm>
          <a:prstGeom prst="roundRect">
            <a:avLst>
              <a:gd name="adj" fmla="val 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APIだけだと遅い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304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プロンプト管理・履歴・ファイル処理・UIを毎回自作すると、検証サイクルが遅くなる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8160" y="1463040"/>
            <a:ext cx="3505200" cy="3017520"/>
          </a:xfrm>
          <a:prstGeom prst="roundRect">
            <a:avLst>
              <a:gd name="adj" fmla="val 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676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社内データを使えない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2834640"/>
            <a:ext cx="304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LLMは自社の資料を知らない。そのまま使うと誤回答や古い情報が混ざる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7680" y="1463040"/>
            <a:ext cx="3505200" cy="3017520"/>
          </a:xfrm>
          <a:prstGeom prst="roundRect">
            <a:avLst>
              <a:gd name="adj" fmla="val 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3628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非エンジニアと共有できない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2834640"/>
            <a:ext cx="304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処理の流れがコードに埋もれ、クライアントや業務担当が中身を確認できない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Difyの答え：処理の流れを“見える化”したキャンバス（Studio）上で組み立て、API・Web・MCPサーバーとして公開できる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What：Difyとは「エージェンティックアプリ」の開発基盤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Studio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2140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ドラッグ&amp;ドロップでWorkflowを構築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83230" y="226771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3440430" y="155448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187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12140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Workflow / Chatflow ほか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75020" y="226771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6332220" y="155448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366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テスト・改善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41948" y="212140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実行ログで挙動を確認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66810" y="226771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9224010" y="155448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1545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333738" y="212140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/ Web / MCPサーバー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Why/What/Howの“What”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97764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ノーコード〜ローコードで、LLM・ナレッジ・ツールを1つの流れに束ねる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同じアプリをエクスポート（YAML＝Dify DSL）して他環境へ移植できる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クラウド版と、Docker Composeによるセルフホスト版がある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原理原則①：LLMアプリは「入力→処理→出力」の流れ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1810512" cy="1920240"/>
          </a:xfrm>
          <a:prstGeom prst="roundRect">
            <a:avLst>
              <a:gd name="adj" fmla="val 6061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664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2140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ユーザーの質問・ファイル・定時トリガー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404872" y="235915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2862072" y="1554480"/>
            <a:ext cx="1810512" cy="1920240"/>
          </a:xfrm>
          <a:prstGeom prst="roundRect">
            <a:avLst>
              <a:gd name="adj" fmla="val 6061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53512" y="1664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12140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分類・抽出・検索（ナレッジ）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18304" y="235915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5175504" y="1554480"/>
            <a:ext cx="1810512" cy="1920240"/>
          </a:xfrm>
          <a:prstGeom prst="roundRect">
            <a:avLst>
              <a:gd name="adj" fmla="val 6061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66944" y="1664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285232" y="212140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指示（プロンプト）に従い生成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31736" y="235915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7488936" y="1554480"/>
            <a:ext cx="1810512" cy="1920240"/>
          </a:xfrm>
          <a:prstGeom prst="roundRect">
            <a:avLst>
              <a:gd name="adj" fmla="val 6061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0376" y="1664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後処理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598664" y="212140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整形・分岐・外部ツール呼び出し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345168" y="235915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card"/>
          <p:cNvSpPr/>
          <p:nvPr/>
        </p:nvSpPr>
        <p:spPr>
          <a:xfrm>
            <a:off x="9802368" y="1554480"/>
            <a:ext cx="1810512" cy="1920240"/>
          </a:xfrm>
          <a:prstGeom prst="roundRect">
            <a:avLst>
              <a:gd name="adj" fmla="val 6061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93808" y="16642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912096" y="212140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回答・JSON・通知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新人への一言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うまくいかない時は「どの段で崩れたか」を1段ずつ確認する。LLMの出力だけを疑わず、入力・前処理から順に見るのがデバッグの基本。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原理原則②：Difyを構成する5つの部品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8448" y="1737360"/>
            <a:ext cx="594360" cy="59436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98448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LLM。判断・生成を担う頭脳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798064" y="155448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1737360"/>
            <a:ext cx="594360" cy="59436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5146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3063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モデルへの指示書。品質の最大要因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047488" y="155448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97296" y="1737360"/>
            <a:ext cx="594360" cy="59436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97296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25146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3063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自社データ。RAGで根拠を渡す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7296912" y="155448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737360"/>
            <a:ext cx="594360" cy="59436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88352" y="25146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063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外部API・検索・コード実行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9546336" y="155448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96144" y="173736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96144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25146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ワークフロー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3063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上記をつなぐ処理の流れ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覚え方：頭脳（モデル）に、指示書（プロンプト）と資料（ナレッジ）と道具（ツール）を渡し、段取り（ワークフロー）で動かす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アプリタイプ：主役は Workflow と Chatflow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Workflow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単発（シングルターン）のタスク。バッチ実行やAPI連携に向く。他の全タイプの土台。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1792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Chatflow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会話の1ターンごとにフローが動く。会話変数・メモリ・ストリーミング出力に対応。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レガシー（シンプルUI）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461772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617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Chatbot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4297680" y="461772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0" y="4617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Agent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046720" y="461772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4617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 Generator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Workflow と Chatflow の違い（選び方）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Workflow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Chatflow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向く用途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レポート生成・データ処理・バッチ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対話型アシスタント・ガイド付きQ&amp;A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開始ノード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ユーザー入力 または トリガー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ユーザー入力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終了ノード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出力（任意）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回答（必須）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自動起動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スケジュール・Webhook等で可能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なし（常にユーザーのメッセージ）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会話変数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あり（ターンをまたいで保持）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選び方の目安：「1回で完結する処理」なら Workflow、「やり取りが続く」なら Chatflow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ノード：1つのノード＝1つの仕事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66344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ノード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使いどころ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ユーザー入力 / トリガー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開始点。入力変数の定義／定時・外部イベント起動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全アプリの最初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LLM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プロンプトに従いテキスト生成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要約・分類・回答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ナレッジ検索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ナレッジから関連チャンクを取得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RAG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if-else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条件分岐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問い合わせ種別で処理を変える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変数アサイナー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会話変数の更新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Chatflowの状態保持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 / 回答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結果を返す（回答はChatflow必須）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最後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HTTPリクエスト・コード実行・イテレーション等の他ノードは、公式docsのNodesで最新仕様を確認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変数：4種類の“置き場所”を区別する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入力変数 / システム変数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ユーザー入力ノードで定義。sys.user_id, sys.app_id, sys.workflow_run_id など。実行中は変更不可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172200" y="14630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ノード出力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各ノードの結果。後続ノードから参照。変更不可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5661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97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APIキー等のシークレットをアプリ外に保管。DSLを共有しても漏れない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72200" y="35661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会話変数（Chatflowのみ）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4297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会話単位で保持。変数アサイナーで更新。ToDoや状態管理に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入力欄で「/」を打つと変数を挿入できる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ハンズオン①：議事録要約 Workflow を作る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352800" cy="1737360"/>
          </a:xfrm>
          <a:prstGeom prst="roundRect">
            <a:avLst>
              <a:gd name="adj" fmla="val 6316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572768"/>
            <a:ext cx="316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ユーザー入力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029968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議事録テキスト（段落）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947160" y="217627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4404360" y="1463040"/>
            <a:ext cx="3352800" cy="1737360"/>
          </a:xfrm>
          <a:prstGeom prst="roundRect">
            <a:avLst>
              <a:gd name="adj" fmla="val 631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95800" y="1572768"/>
            <a:ext cx="316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14088" y="2029968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要約＋決定事項＋ToDo抽出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02880" y="217627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8260080" y="1463040"/>
            <a:ext cx="3352800" cy="1737360"/>
          </a:xfrm>
          <a:prstGeom prst="roundRect">
            <a:avLst>
              <a:gd name="adj" fmla="val 6316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1520" y="1572768"/>
            <a:ext cx="316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369808" y="2029968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Markdownで返す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93192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Studio →「最初から作成」→ Workflow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ユーザー入力に変数 minutes を追加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LLMノードにプロンプトを書き、/ で minutes を挿入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出力ノードでLLMの出力を返す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実行して結果と各ノードの入出力を確認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7315200" y="3474720"/>
            <a:ext cx="4297680" cy="2560320"/>
          </a:xfrm>
          <a:prstGeom prst="roundRect">
            <a:avLst>
              <a:gd name="adj" fmla="val 428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4380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確認ポイント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4069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要約が長すぎないか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ToDoに担当・期限があるか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同じ入力で結果がぶれないか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プロンプト設計：5要素で書く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1417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あなたは誰か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2167128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67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2167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何を達成するか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2916936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169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29169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どの変数を使うか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666744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66674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36667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やってはいけないこと／根拠の範囲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4416552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4165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出力形式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0" y="4416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見出し・JSON・文字数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858000" y="141732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8660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例（要約）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196596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役割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あなたは議事録の編集者です。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目的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{{minutes}} を要約します。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制約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・原文にない事実は書かない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・不明は「不明」と書く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出力形式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要約(3行)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決定事項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ToDo(担当/期限)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原理原則③：RAG＝調べてから答える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02996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社内規定の質問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83230" y="222199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3440430" y="146304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187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 Retrieval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02996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ナレッジから関連チャンク取得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75020" y="222199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6332220" y="146304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366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 Augmentation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41948" y="202996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質問＋チャンクをプロンプトへ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66810" y="222199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9224010" y="146304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1545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 Generation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333738" y="202996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根拠に基づき回答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RAGで得られること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343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社内データに基づく回答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最新資料へ差し替え可能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根拠チャンクを確認できる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6217920" y="37490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RAGでも防げないこと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343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資料自体の誤り・古さ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検索で拾えなかった場合の誤回答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資料にない質問への推測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ナレッジ設計：精度を決める5つの設定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何を決める？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新人が最初に見る点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処理ルール（チャンク）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文書をどう分割するか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1チャンクに1つの話題か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インデックス方法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検索用の索引の作り方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設定画面で後から変更可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埋め込みモデル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意味の近さの計算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日本語に対応したものを選ぶ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検索戦略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どう関連チャンクを探すか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テストで比較して決める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メタデータ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部署・日付などの属性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絞り込みで精度向上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鉄則：「検索テスト」で想定質問20個を流し、拾えなかった質問から改善する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ハンズオン②：社内FAQ Chatflow を作る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ユーザー入力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02996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83230" y="217627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3440430" y="146304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187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ナレッジ検索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02996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FAQから取得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75020" y="217627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6332220" y="146304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366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41948" y="202996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根拠のみで回答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66810" y="217627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9224010" y="1463040"/>
            <a:ext cx="2388870" cy="1737360"/>
          </a:xfrm>
          <a:prstGeom prst="roundRect">
            <a:avLst>
              <a:gd name="adj" fmla="val 6316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15450" y="157276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333738" y="2029968"/>
            <a:ext cx="2169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必須ノード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47472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ナレッジを作成しFAQ(PDF/MD)をアップロード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検索テストで想定質問を試す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Chatflowを作成、ナレッジ検索ノードを接続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LLMのプロンプトに「検索結果にない場合は『わかりません』」を書く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プレビューで回答と参照元を確認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ツール・プラグイン・エージェント：LLMに“手”を持たせる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ツール／プラグイン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4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検索・翻訳・外部サービス連携など。ワークフローの1ノードとして呼び出す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28160" y="146304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676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HTTPリクエスト／コード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834640"/>
            <a:ext cx="304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社内APIや整形処理をつなぐ。入力検証と認証情報の扱いに注意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07680" y="146304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628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6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3628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36280" y="2834640"/>
            <a:ext cx="304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目的に応じてモデルが道具を選ぶ。自由度が高い分、挙動の確認が必要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新人の方針：まず“決まった手順（Workflow）”で作る → 手順が決まらない部分だけAgentに任せる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公開：API・Web・MCPサーバー／DSLで持ち運ぶ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505200" cy="2560320"/>
          </a:xfrm>
          <a:prstGeom prst="roundRect">
            <a:avLst>
              <a:gd name="adj" fmla="val 428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自社システムから呼ぶ。キー管理に注意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8160" y="1463040"/>
            <a:ext cx="3505200" cy="2560320"/>
          </a:xfrm>
          <a:prstGeom prst="roundRect">
            <a:avLst>
              <a:gd name="adj" fmla="val 428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676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2834640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URLを共有して使う。社内向けの手軽な公開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7680" y="1463040"/>
            <a:ext cx="3505200" cy="2560320"/>
          </a:xfrm>
          <a:prstGeom prst="roundRect">
            <a:avLst>
              <a:gd name="adj" fmla="val 428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3628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MCPサーバー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2834640"/>
            <a:ext cx="304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他のAIツールから道具として呼ばれる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E9DB"/>
          </a:solidFill>
          <a:ln w="12700">
            <a:solidFill>
              <a:srgbClr val="FFE9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7A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Dify DSL（YAML）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アプリをYAMLでエクスポート。別環境へ移植・テンプレ共有ができる。環境変数に入れた秘密情報は共有しても漏れない設計。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環境構築：クラウド版 か セルフホスト版か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クラウド版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セルフホスト（Docker Compose）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立ち上げ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アカウント作成のみ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サーバー準備＋コンテナ起動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向く場面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学習・PoC・小規模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データを外に出せない・社内要件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提供元が管理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更新・バックアップは自社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クラウド側に保存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自社環境に保存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セルフホスト手順（公式）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dify/docker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http://localhost/install で管理者を作成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クライアント対応①：ヒアリング5問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545336"/>
            <a:ext cx="548640" cy="54864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173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141732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誰の・どの業務を・何分短縮したいか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3317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459736"/>
            <a:ext cx="548640" cy="54864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23317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33172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どんなデータ・ファイルが入るか／量は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48640" y="32461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32461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24612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誰が使う？形式は？（文章・JSON・通知）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41605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4288536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41605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416052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社外に出せる情報か／個人情報はあるか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548640" y="50749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5202936"/>
            <a:ext cx="548640" cy="54864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202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554480" y="50749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507492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何を成功とするか／誤回答の許容は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クライアント対応②：要件 → Dify構成への翻訳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クライアントの言葉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Difyの構成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「議事録を自動で要約したい」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Workflow（入力→LLM→出力）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出力形式を先に合意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「社内規定に答えるBotが欲しい」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Chatflow＋ナレッジ（RAG）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資料の整備が先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「毎朝レポートを作りたい」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Workflow＋トリガー（スケジュール）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通知先を確認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「問い合わせ内容で担当を振り分けたい」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分類＋if-else＋外部API連携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振り分けルールを文書化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「他システムから呼びたい」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Workflowを公開しAPI利用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認証・上限を確認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クライアント対応③：期待値の調整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9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下書き・要約・分類の自動化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資料に基づく回答（根拠つき）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定型業務のフロー化と再利用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非エンジニアにも流れを見せる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CE9E9"/>
          </a:solidFill>
          <a:ln w="12700">
            <a:solidFill>
              <a:srgbClr val="FCE9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約束してはいけないこと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誤回答ゼロ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資料に無い質問への正確な回答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導入直後から完全自動化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テストなしでの本番投入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品質・セキュリティ・運用：納品前チェック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505200" cy="3291840"/>
          </a:xfrm>
          <a:prstGeom prst="roundRect">
            <a:avLst>
              <a:gd name="adj" fmla="val 333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48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想定質問を一覧化→実行→修正を繰り返す。回答の根拠を確認できる状態にする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28160" y="1463040"/>
            <a:ext cx="3505200" cy="3291840"/>
          </a:xfrm>
          <a:prstGeom prst="roundRect">
            <a:avLst>
              <a:gd name="adj" fmla="val 333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676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834640"/>
            <a:ext cx="3048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APIキーは環境変数へ。個人情報・機密を送る範囲を事前に合意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07680" y="1463040"/>
            <a:ext cx="3505200" cy="3291840"/>
          </a:xfrm>
          <a:prstGeom prst="roundRect">
            <a:avLst>
              <a:gd name="adj" fmla="val 333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6280" y="1691640"/>
            <a:ext cx="502920" cy="5029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6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36280" y="233172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36280" y="2834640"/>
            <a:ext cx="3048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ナレッジの更新担当・頻度を決める。変更履歴とDSLのバックアップを残す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納品物の例：構成図・プロンプト・テスト結果・運用手順書・DSLファイル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よくある失敗と対策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480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失敗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原因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対策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的外れな回答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チャンク分割が不適切／検索設定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検索テストで拾えた内容を確認し分割を見直す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もっともらしい嘘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「資料外は答えない」制約がない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プロンプトに制約と「わかりません」を明記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結果が毎回違う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プロンプトが曖昧・出力形式未指定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出力形式と例を指定、テスト入力を固定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キー漏えい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プロンプトやノードに直書き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環境変数に保管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作り込みすぎ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最初から全部入り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最小構成で動かしてから拡張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クライアントへの説明トーク例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本当に正確ですか？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登録した資料の範囲で根拠を示して答えます。ただし資料にない内容は「わかりません」と返す設計にし、導入前に想定質問でテストします。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108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社内データは外に出ますか？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構成によります。社外に出せない場合はセルフホスト（自社環境）を選べます。まず対象データを一緒に整理させてください。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663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作った後は誰が直しますか？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ナレッジの更新担当を決めれば運用できます。流れが画面で見えるので、内容の確認や修正がしやすいです。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学習ロードマップ：1か月で“客先に出せる”まで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1週目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2140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Workflowで小さなアプリ3本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83230" y="231343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3440430" y="155448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187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2週目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50158" y="212140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ナレッジ作成と検索テスト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75020" y="231343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6332220" y="155448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3週目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12140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Chatflow・分岐・外部連携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66810" y="2313432"/>
            <a:ext cx="411480" cy="320040"/>
          </a:xfrm>
          <a:prstGeom prst="rightArrow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9224010" y="1554480"/>
            <a:ext cx="2388870" cy="1828800"/>
          </a:xfrm>
          <a:prstGeom prst="roundRect">
            <a:avLst>
              <a:gd name="adj" fmla="val 6000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15450" y="1664208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4週目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33738" y="2121408"/>
            <a:ext cx="2169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公開・運用・説明練習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今日の持ち帰り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入力→処理→出力に分解する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RAG＝調べてから答える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作る前に聞く、約束しすぎない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参考資料（公式ドキュメント）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URL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主要概念（日本語）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docs.dify.ai/ja/use-dify/getting-started/key-concepts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主要概念（English）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docs.dify.ai/en/use-dify/getting-started/key-concepts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Workflow / Chatflow（日本語）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docs.dify.ai/ja/use-dify/build/workflow-chatflow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ナレッジ（English）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docs.dify.ai/en/use-dify/knowledge/readme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セルフホスト Docker Compose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docs.dify.ai/en/self-host/quick-start/docker-compose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ナレッジの詳細設定・各ノード仕様は公式docsの該当ページで最新を確認してください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ausaDify">
  <a:themeElements>
    <a:clrScheme name="UsausaDify">
      <a:dk1>
        <a:srgbClr val="1F2937"/>
      </a:dk1>
      <a:lt1>
        <a:srgbClr val="FFFFFF"/>
      </a:lt1>
      <a:dk2>
        <a:srgbClr val="1B2A49"/>
      </a:dk2>
      <a:lt2>
        <a:srgbClr val="E8EEFC"/>
      </a:lt2>
      <a:accent1>
        <a:srgbClr val="2F5BEA"/>
      </a:accent1>
      <a:accent2>
        <a:srgbClr val="FF7A2F"/>
      </a:accent2>
      <a:accent3>
        <a:srgbClr val="1E9E6A"/>
      </a:accent3>
      <a:accent4>
        <a:srgbClr val="D64545"/>
      </a:accent4>
      <a:accent5>
        <a:srgbClr val="6B7280"/>
      </a:accent5>
      <a:accent6>
        <a:srgbClr val="D5DCEB"/>
      </a:accent6>
      <a:hlink>
        <a:srgbClr val="2F5BEA"/>
      </a:hlink>
      <a:folHlink>
        <a:srgbClr val="6B7280"/>
      </a:folHlink>
    </a:clrScheme>
    <a:fontScheme name="UsausaDify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うさうさ研修工房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Dify初級講座</dc:title>
  <dc:subject>PptxGenJS Presentation</dc:subject>
  <dc:creator>うさうさ研修工房</dc:creator>
  <cp:lastModifiedBy>うさうさ研修工房</cp:lastModifiedBy>
  <cp:revision>1</cp:revision>
  <dcterms:created xsi:type="dcterms:W3CDTF">2026-10-22T19:03:26Z</dcterms:created>
  <dcterms:modified xsi:type="dcterms:W3CDTF">2026-10-22T19:03:26Z</dcterms:modified>
</cp:coreProperties>
</file>