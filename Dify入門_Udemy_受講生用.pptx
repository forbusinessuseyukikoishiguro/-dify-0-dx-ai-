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f6911d21-8621-0d8b-fa19-5abec99c073b}">
          <p14:sldIdLst>
            <p14:sldId id="256"/>
            <p14:sldId id="257"/>
          </p14:sldIdLst>
        </p14:section>
        <p14:section name="STEP1" id="{a1345831-162e-220f-bc70-ac477ad3af68}">
          <p14:sldIdLst>
            <p14:sldId id="258"/>
          </p14:sldIdLst>
        </p14:section>
        <p14:section name="STEP2" id="{af0f7b16-c0f6-3506-98cd-3fb8b4016991}">
          <p14:sldIdLst>
            <p14:sldId id="259"/>
          </p14:sldIdLst>
        </p14:section>
        <p14:section name="STEP3" id="{3ab183e3-7086-cf6e-4ae7-eb083d6a7c93}">
          <p14:sldIdLst>
            <p14:sldId id="260"/>
          </p14:sldIdLst>
        </p14:section>
        <p14:section name="STEP4" id="{fa970ac9-a532-fdba-3329-6fb4e9465c2c}">
          <p14:sldIdLst>
            <p14:sldId id="261"/>
          </p14:sldIdLst>
        </p14:section>
        <p14:section name="STEP5" id="{96bd07a6-aac1-6012-52b6-9dd779adacc2}">
          <p14:sldIdLst>
            <p14:sldId id="262"/>
          </p14:sldIdLst>
        </p14:section>
        <p14:section name="STEP6" id="{44dbc7a4-e74d-62cb-7a94-e1eee62535bb}">
          <p14:sldIdLst>
            <p14:sldId id="263"/>
          </p14:sldIdLst>
        </p14:section>
        <p14:section name="STEP7" id="{2e740550-5718-1f24-55f0-0c32db9da001}">
          <p14:sldIdLst>
            <p14:sldId id="264"/>
          </p14:sldIdLst>
        </p14:section>
        <p14:section name="STEP8" id="{6abfe2d5-8f49-31e8-2c36-92f0982b00a0}">
          <p14:sldIdLst>
            <p14:sldId id="265"/>
          </p14:sldIdLst>
        </p14:section>
        <p14:section name="まとめ" id="{46be6b08-0287-6e00-8e60-d9fee1a4c45e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Meiryo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Meiryo"/>
              </a:rPr>
              <a:t>難易度の坂道（1〜9）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難易度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Meiry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STEP1</c:v>
                  </c:pt>
                  <c:pt idx="1">
                    <c:v>STEP2</c:v>
                  </c:pt>
                  <c:pt idx="2">
                    <c:v>STEP3</c:v>
                  </c:pt>
                  <c:pt idx="3">
                    <c:v>STEP4</c:v>
                  </c:pt>
                  <c:pt idx="4">
                    <c:v>STEP5</c:v>
                  </c:pt>
                  <c:pt idx="5">
                    <c:v>STEP6</c:v>
                  </c:pt>
                  <c:pt idx="6">
                    <c:v>STEP7</c:v>
                  </c:pt>
                  <c:pt idx="7">
                    <c:v>STEP8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2.5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9</c:v>
                </c:pt>
                <c:pt idx="7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Meiry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D5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動画の冒頭。『今日はDifyの操作ではなく、なぜそう作るのかを学びます』と伝える。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難易度の坂道。山場はSTEP7、最後のSTEP8でクールダウンします。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STEP1：Difyって何？ 全体像と原理（約8分）。台本の該当セクションを参照。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STEP2：5つの部品とアプリタイプ（約10分）。台本の該当セクションを参照。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STEP3：ノードと変数（約12分）。台本の該当セクションを参照。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STEP4：ハンズオン①：議事録要約 Workflow（約25分）。台本の該当セクションを参照。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STEP5：RAGの原理とナレッジ設計（約12分）。台本の該当セクションを参照。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STEP6：ハンズオン②：社内FAQ Chatflow（約25分）。台本の該当セクションを参照。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STEP7：山場：クライアント対応ミニ演習（約20分）。台本の該当セクションを参照。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STEP8：公開・環境・次の一歩（約8分）。台本の該当セクションを参照。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5項目すべてに○がつけば修了です。最新仕様は公式ドキュメントで確認するよう伝える。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Dify入門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原理原則から、クライアント対応まで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受講生用｜全8STEP・約120分｜新人エンジニア向け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うさうさ研修工房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学習ロードマップ：少しずつ坂をのぼる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うさうさ研修工房 | Dify入門（受講生用）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11064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25196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85800" y="445312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298448" y="434340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Difyって何？ 全体像と原理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68040" y="425196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05200" y="445312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50520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117848" y="434340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5つの部品とアプリタイプ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87440" y="425196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24600" y="445312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2460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937248" y="434340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ノードと変数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9006840" y="425196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144000" y="445312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14400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9756648" y="434340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実習①：議事録要約 Workflow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8640" y="530352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85800" y="550468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5800" y="5504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1298448" y="539496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RAGの原理とナレッジ設計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368040" y="530352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505200" y="550468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505200" y="5504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4117848" y="539496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実習②：社内FAQ Chatflow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187440" y="530352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324600" y="5504688"/>
            <a:ext cx="502920" cy="50292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324600" y="5504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6937248" y="539496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山場：クライアント対応ミニ演習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9006840" y="530352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144000" y="550468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9144000" y="5504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9756648" y="539496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公開・環境・次の一歩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STEP1｜Difyって何？ 全体像と原理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うさうさ研修工房 | Dify入門（受講生用）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926080" cy="4663440"/>
          </a:xfrm>
          <a:prstGeom prst="roundRect">
            <a:avLst>
              <a:gd name="adj" fmla="val 375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難易度 1 / 9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62456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56232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50008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96896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3784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動画の目安：約8分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1371600"/>
            <a:ext cx="7863840" cy="2240280"/>
          </a:xfrm>
          <a:prstGeom prst="roundRect">
            <a:avLst>
              <a:gd name="adj" fmla="val 4898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学ぶこと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1965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LLMアプリは「入力→処理→出力」で動く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Difyは流れを見える画面で組み立て、API・Web・MCPで公開できる基盤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うまくいかない時は、前の段から順に確認する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749040" y="3749040"/>
            <a:ext cx="7863840" cy="109728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2336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やってみよう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4206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身近なアプリ（翻訳・要約など）を「入力→処理→出力」に分けて書き出す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749040" y="498348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できたかな？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5440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「入力・処理・出力」を自分の言葉で説明できる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STEP2｜5つの部品とアプリタイプ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うさうさ研修工房 | Dify入門（受講生用）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926080" cy="4663440"/>
          </a:xfrm>
          <a:prstGeom prst="roundRect">
            <a:avLst>
              <a:gd name="adj" fmla="val 375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難易度 2〜3 / 9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62456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56232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50008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96896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3784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動画の目安：約10分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1371600"/>
            <a:ext cx="7863840" cy="2240280"/>
          </a:xfrm>
          <a:prstGeom prst="roundRect">
            <a:avLst>
              <a:gd name="adj" fmla="val 4898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学ぶこと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1965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モデル・プロンプト・ナレッジ・ツール・ワークフローの5部品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1回で終わる処理はWorkflow、やり取りが続くならChatflow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Chatbot・Agent・Text Generatorは旧型のシンプルなインターフェース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749040" y="3749040"/>
            <a:ext cx="7863840" cy="109728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2336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やってみよう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4206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3つの用途を、Workflow／Chatflowに振り分けて理由を書く（ワークブック1-3）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749040" y="498348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できたかな？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5440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理由をつけて、WorkflowとChatflowを選べる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STEP3｜ノードと変数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うさうさ研修工房 | Dify入門（受講生用）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926080" cy="4663440"/>
          </a:xfrm>
          <a:prstGeom prst="roundRect">
            <a:avLst>
              <a:gd name="adj" fmla="val 375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難易度 4 / 9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62456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56232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50008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96896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3784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動画の目安：約12分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1371600"/>
            <a:ext cx="7863840" cy="2240280"/>
          </a:xfrm>
          <a:prstGeom prst="roundRect">
            <a:avLst>
              <a:gd name="adj" fmla="val 4898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学ぶこと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1965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ノードは1つにつき1つの仕事（開始・LLM・ナレッジ検索・if-else・回答）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変数は4種類：入力／ノード出力／環境変数／会話変数（Chatflowのみ）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APIキーなどの秘密情報は環境変数に入れる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749040" y="3749040"/>
            <a:ext cx="7863840" cy="109728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2336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やってみよう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4206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Studioを開き、ノードを並べて、各ノードの入力と出力を見てみる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749040" y="498348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できたかな？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5440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4種類の変数の置き場所を説明できる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STEP4｜ハンズオン①：議事録要約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うさうさ研修工房 | Dify入門（受講生用）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926080" cy="4663440"/>
          </a:xfrm>
          <a:prstGeom prst="roundRect">
            <a:avLst>
              <a:gd name="adj" fmla="val 375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難易度 5 / 9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62456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56232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50008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96896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3784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動画の目安：約25分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1371600"/>
            <a:ext cx="7863840" cy="2240280"/>
          </a:xfrm>
          <a:prstGeom prst="roundRect">
            <a:avLst>
              <a:gd name="adj" fmla="val 4898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学ぶこと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1965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ユーザー入力（minutes）→ LLM → 出力の最小構成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プロンプトは5要素：役割・目的・入力・制約・出力形式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同じ入力で2回実行し、結果のぶれを確かめる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749040" y="3749040"/>
            <a:ext cx="7863840" cy="109728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2336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やってみよう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4206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議事録要約Workflowを作り、サンプル議事録で実行する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749040" y="498348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できたかな？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5440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要約・決定事項・ToDoが出力される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STEP5｜RAGの原理とナレッジ設計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うさうさ研修工房 | Dify入門（受講生用）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926080" cy="4663440"/>
          </a:xfrm>
          <a:prstGeom prst="roundRect">
            <a:avLst>
              <a:gd name="adj" fmla="val 375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難易度 6 / 9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62456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56232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50008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96896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3784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動画の目安：約12分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1371600"/>
            <a:ext cx="7863840" cy="2240280"/>
          </a:xfrm>
          <a:prstGeom prst="roundRect">
            <a:avLst>
              <a:gd name="adj" fmla="val 4898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学ぶこと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1965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RAGは「調べてから答える」：検索→拡張→生成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分割・インデックス・埋め込み・検索戦略・メタデータが精度を左右する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改善は検索テストで拾えなかった質問から始める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749040" y="3749040"/>
            <a:ext cx="7863840" cy="109728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2336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やってみよう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4206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FAQ資料を用意し、想定質問を5つ書く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749040" y="498348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できたかな？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5440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RAGで防げることと防げないことを説明できる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STEP6｜ハンズオン②：社内FAQ Chatflow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うさうさ研修工房 | Dify入門（受講生用）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926080" cy="4663440"/>
          </a:xfrm>
          <a:prstGeom prst="roundRect">
            <a:avLst>
              <a:gd name="adj" fmla="val 375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難易度 7 / 9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62456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56232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50008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96896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3784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動画の目安：約25分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1371600"/>
            <a:ext cx="7863840" cy="2240280"/>
          </a:xfrm>
          <a:prstGeom prst="roundRect">
            <a:avLst>
              <a:gd name="adj" fmla="val 4898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学ぶこと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1965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ナレッジ検索 → LLM → 回答の流れ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制約「検索結果にない場合は『わかりません』と答える」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資料にない質問を、必ず1つ試す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749040" y="3749040"/>
            <a:ext cx="7863840" cy="109728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2336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やってみよう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4206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社内FAQ Chatflowを作り、想定質問テスト表を埋める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749040" y="498348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できたかな？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5440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資料にない質問に「わかりません」と返せる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STEP7｜山場：クライアント対応ミニ演習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うさうさ研修工房 | Dify入門（受講生用）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926080" cy="4663440"/>
          </a:xfrm>
          <a:prstGeom prst="roundRect">
            <a:avLst>
              <a:gd name="adj" fmla="val 375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難易度 9 / 9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182880" cy="1828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3794760"/>
            <a:ext cx="182880" cy="1828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62456" y="3794760"/>
            <a:ext cx="182880" cy="1828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3794760"/>
            <a:ext cx="182880" cy="1828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56232" y="3794760"/>
            <a:ext cx="182880" cy="1828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794760"/>
            <a:ext cx="182880" cy="1828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50008" y="3794760"/>
            <a:ext cx="182880" cy="1828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96896" y="3794760"/>
            <a:ext cx="182880" cy="1828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3784" y="3794760"/>
            <a:ext cx="182880" cy="1828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動画の目安：約20分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937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山場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749040" y="1371600"/>
            <a:ext cx="7863840" cy="2240280"/>
          </a:xfrm>
          <a:prstGeom prst="roundRect">
            <a:avLst>
              <a:gd name="adj" fmla="val 4898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36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学ぶこと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1965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ヒアリング5問：目的・入力・出力・データ・評価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お客様の言葉を、Difyの構成に翻訳する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期待値調整：誤回答ゼロは約束しない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749040" y="3749040"/>
            <a:ext cx="7863840" cy="1097280"/>
          </a:xfrm>
          <a:prstGeom prst="roundRect">
            <a:avLst>
              <a:gd name="adj" fmla="val 10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2336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やってみよう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023360" y="4206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架空案件を1つ選び、ヒアリング→構成提案→1分説明まで通しで行う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749040" y="498348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2336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できたかな？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5440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★1 構成提案メモが埋まった　★2 1分説明で約束しすぎがない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STEP8｜公開・環境・次の一歩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うさうさ研修工房 | Dify入門（受講生用）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926080" cy="4663440"/>
          </a:xfrm>
          <a:prstGeom prst="roundRect">
            <a:avLst>
              <a:gd name="adj" fmla="val 375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難易度 3 / 9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62456" y="37947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56232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50008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96896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3784" y="3794760"/>
            <a:ext cx="182880" cy="182880"/>
          </a:xfrm>
          <a:prstGeom prst="ellipse">
            <a:avLst/>
          </a:prstGeom>
          <a:solidFill>
            <a:srgbClr val="4B5A86"/>
          </a:solidFill>
          <a:ln w="12700">
            <a:solidFill>
              <a:srgbClr val="4B5A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動画の目安：約8分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1371600"/>
            <a:ext cx="7863840" cy="2240280"/>
          </a:xfrm>
          <a:prstGeom prst="roundRect">
            <a:avLst>
              <a:gd name="adj" fmla="val 4898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学ぶこと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1965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公開はAPI・Web・MCPサーバー。DSL（YAML）で持ち運べる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クラウド版か、セルフホスト（Docker Compose）か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最新仕様は必ず公式ドキュメントで確認する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749040" y="3749040"/>
            <a:ext cx="7863840" cy="109728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2336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やってみよう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4206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来週作る小さなアプリを1つ決める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749040" y="498348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できたかな？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5440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5項目チェックリストで振り返れる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ふりかえりチェックリスト（5項目）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うさうさ研修工房 | Dify入門（受講生用）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5544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0" y="1371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入力→処理→出力で、LLMアプリを説明できる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4231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71600" y="2240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WorkflowとChatflowを、理由をつけて選び分けられる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291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71600" y="3108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議事録要約Workflowが動いた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397764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41605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71600" y="3977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資料にない質問に「わかりません」と返せた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8463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6F1F7"/>
          </a:solidFill>
          <a:ln w="12700">
            <a:solidFill>
              <a:srgbClr val="E6F1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5029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371600" y="4846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クライアントに1分で、約束しすぎずに説明できた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参考：Dify公式ドキュメント（docs.dify.ai/ja ／ docs.dify.ai/en）。最新の仕様は必ず公式で確認しましょう。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ausaUdemy">
  <a:themeElements>
    <a:clrScheme name="UsausaUdemy">
      <a:dk1>
        <a:srgbClr val="1F2937"/>
      </a:dk1>
      <a:lt1>
        <a:srgbClr val="FFFFFF"/>
      </a:lt1>
      <a:dk2>
        <a:srgbClr val="21295C"/>
      </a:dk2>
      <a:lt2>
        <a:srgbClr val="E6F1F7"/>
      </a:lt2>
      <a:accent1>
        <a:srgbClr val="065A82"/>
      </a:accent1>
      <a:accent2>
        <a:srgbClr val="1C7293"/>
      </a:accent2>
      <a:accent3>
        <a:srgbClr val="F2994A"/>
      </a:accent3>
      <a:accent4>
        <a:srgbClr val="1E9E6A"/>
      </a:accent4>
      <a:accent5>
        <a:srgbClr val="6B7280"/>
      </a:accent5>
      <a:accent6>
        <a:srgbClr val="D5E3EA"/>
      </a:accent6>
      <a:hlink>
        <a:srgbClr val="065A82"/>
      </a:hlink>
      <a:folHlink>
        <a:srgbClr val="6B7280"/>
      </a:folHlink>
    </a:clrScheme>
    <a:fontScheme name="UsausaUdemy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うさうさ研修工房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Dify入門 受講生用</dc:title>
  <dc:subject>PptxGenJS Presentation</dc:subject>
  <dc:creator>うさうさ研修工房</dc:creator>
  <cp:lastModifiedBy>うさうさ研修工房</cp:lastModifiedBy>
  <cp:revision>1</cp:revision>
  <dcterms:created xsi:type="dcterms:W3CDTF">2026-10-22T19:08:40Z</dcterms:created>
  <dcterms:modified xsi:type="dcterms:W3CDTF">2026-10-22T19:08:40Z</dcterms:modified>
</cp:coreProperties>
</file>